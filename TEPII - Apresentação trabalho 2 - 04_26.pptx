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666750d3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a666750d3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aacd2039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aacd2039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 gestor pode deixar algum documento de preconfigurações para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claro que há preocupações com segurança, </a:t>
            </a:r>
            <a:r>
              <a:rPr lang="pt-PT">
                <a:solidFill>
                  <a:schemeClr val="dk1"/>
                </a:solidFill>
              </a:rPr>
              <a:t> prompt injection, etc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aacd20396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aacd2039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aacd2039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aacd2039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outro interessante: explicabilidade. é possivel pedir para o agente explicar a aplicação de determinada politica, e permitindo autitar todo esse caminho até a decisão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aacd2039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aacd2039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a666750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a666750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https://consensus.app/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aacd203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aacd203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 edgquake frequentemente referencia colocações direto das fontes (mais pé no chão), enquanto o notebooklm parece divagar mais e “extender” explicações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aacd2039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aacd2039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a666750d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a666750d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a666750d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a666750d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insight: descobrir o que não se sabe/o que está faltando na base de conhecimento; descobrir o que é fraco de evidencia nas soluções abordadas. (tudo isso ajuda a: como continuar adicionando conhecimento a o grafo e, eventualmente, decobre-se possiveis “gaps” na literatura)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a666750d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a666750d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aacd2039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aacd2039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a666750d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a666750d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 edgquake frequentemente referencia colocações direto das fontes (mais pé no chão), enquanto o notebooklm parece divagar mais e “extender” explicações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a666750d3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a666750d3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a666750d3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a666750d3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insight: descobrir o que não se sabe/o que está faltando na base de conhecimento; descobrir o que é fraco de evidencia nas soluções abordadas. (tudo isso ajuda a: como continuar adicionando conhecimento a o grafo e, eventualmente, decobre-se possiveis “gaps” na literatura)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a666750d3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9a666750d3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insight: descobrir o que não se sabe/o que está faltando na base de conhecimento; descobrir o que é fraco de evidencia nas soluções abordadas. (tudo isso ajuda a: como continuar adicionando conhecimento a o grafo e, eventualmente, decobre-se possiveis “gaps” na literatura)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a666750d3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a666750d3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insight: descobrir o que não se sabe/o que está faltando na base de conhecimento; descobrir o que é fraco de evidencia nas soluções abordadas. (tudo isso ajuda a: como continuar adicionando conhecimento a o grafo e, eventualmente, decobre-se possiveis “gaps” na literatura)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a666750d3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9a666750d3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aacd2039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aacd2039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a666750d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9a666750d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Relationship Id="rId8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ezar este slide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06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Problema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PT"/>
              <a:t>O que está sendo resolvido?</a:t>
            </a:r>
            <a:endParaRPr b="1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i="1" lang="pt-PT"/>
              <a:t>Intent-Based Networking</a:t>
            </a:r>
            <a:r>
              <a:rPr lang="pt-PT"/>
              <a:t> (IBN) é um método de </a:t>
            </a:r>
            <a:r>
              <a:rPr b="1" lang="pt-PT"/>
              <a:t>simplificação da gestão de redes</a:t>
            </a:r>
            <a:r>
              <a:rPr lang="pt-PT"/>
              <a:t> por meio de análise e aplicação da intenção do usuário, abstraindo trabalho de configuração e ação manual específica.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/>
              <a:t>Exemplo prático:</a:t>
            </a:r>
            <a:r>
              <a:rPr lang="pt-PT"/>
              <a:t> haverá um evento de </a:t>
            </a:r>
            <a:r>
              <a:rPr i="1" lang="pt-PT"/>
              <a:t>e-sports</a:t>
            </a:r>
            <a:r>
              <a:rPr lang="pt-PT"/>
              <a:t> no(s) laboratório(s) da universidade, ao invés de precisar revisar e ajustar o fluxo de dados (</a:t>
            </a:r>
            <a:r>
              <a:rPr i="1" lang="pt-PT"/>
              <a:t>bps</a:t>
            </a:r>
            <a:r>
              <a:rPr lang="pt-PT"/>
              <a:t>) para cada porta de cada dispositivo (</a:t>
            </a:r>
            <a:r>
              <a:rPr i="1" lang="pt-PT"/>
              <a:t>switch/firewall</a:t>
            </a:r>
            <a:r>
              <a:rPr lang="pt-PT"/>
              <a:t>), o gestor pode solicitar ao agente que “prepare os laboratórios X e Y para o evento”.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600" y="286575"/>
            <a:ext cx="4876800" cy="41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261550" y="4731950"/>
            <a:ext cx="462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00">
                <a:solidFill>
                  <a:schemeClr val="dk2"/>
                </a:solidFill>
              </a:rPr>
              <a:t>Fonte: </a:t>
            </a:r>
            <a:r>
              <a:rPr lang="pt-PT" sz="900">
                <a:solidFill>
                  <a:schemeClr val="dk2"/>
                </a:solidFill>
              </a:rPr>
              <a:t>https://www.geeksforgeeks.org/computer-networks/intent-based-networking-ibn/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Problema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Por que isso é relevante?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Em especial (mas não limitado a):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lphaLcPeriod"/>
            </a:pPr>
            <a:r>
              <a:rPr b="1" lang="pt-PT"/>
              <a:t>Automação </a:t>
            </a:r>
            <a:r>
              <a:rPr lang="pt-PT"/>
              <a:t>de tarefas massantes e repetitivas, como busca, interpretação e configuração de dispositivos (especialmente em redes grandes)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lphaLcPeriod"/>
            </a:pPr>
            <a:r>
              <a:rPr b="1" lang="pt-PT"/>
              <a:t>Redução de erro humano</a:t>
            </a:r>
            <a:r>
              <a:rPr lang="pt-PT"/>
              <a:t>, ao automar mudanças granulares de regras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lphaLcPeriod"/>
            </a:pPr>
            <a:r>
              <a:rPr b="1" lang="pt-PT"/>
              <a:t>Alocação mais eficiente de recursos.</a:t>
            </a:r>
            <a:r>
              <a:rPr lang="pt-PT"/>
              <a:t> Em sistemas multi-agente, estes podem negociar recursos afim de reduzir custos e maximizar qualidade de serviço (QoS)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Abordagem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36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PT"/>
              <a:t>Como as ferramentas foram utilizadas?</a:t>
            </a:r>
            <a:endParaRPr b="1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/>
              <a:t>As ferramentas foram usadas para extrair </a:t>
            </a:r>
            <a:r>
              <a:rPr i="1" lang="pt-PT"/>
              <a:t>insights</a:t>
            </a:r>
            <a:r>
              <a:rPr lang="pt-PT"/>
              <a:t> cruzados entre os seguintes arquivos, incluindo </a:t>
            </a:r>
            <a:r>
              <a:rPr b="1" lang="pt-PT"/>
              <a:t>artigos </a:t>
            </a:r>
            <a:r>
              <a:rPr b="1" lang="pt-PT"/>
              <a:t>científicos</a:t>
            </a:r>
            <a:r>
              <a:rPr lang="pt-PT"/>
              <a:t>, </a:t>
            </a:r>
            <a:r>
              <a:rPr b="1" lang="pt-PT"/>
              <a:t>documentação técnica</a:t>
            </a:r>
            <a:r>
              <a:rPr lang="pt-PT"/>
              <a:t> e </a:t>
            </a:r>
            <a:r>
              <a:rPr b="1" i="1" lang="pt-PT"/>
              <a:t>posts</a:t>
            </a:r>
            <a:r>
              <a:rPr b="1" lang="pt-PT"/>
              <a:t> de blog especializados</a:t>
            </a:r>
            <a:r>
              <a:rPr lang="pt-PT"/>
              <a:t>:</a:t>
            </a:r>
            <a:endParaRPr b="1"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2262" y="2702525"/>
            <a:ext cx="4559476" cy="218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Abordagem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PT"/>
              <a:t>Como isso se conecta ao tema escolhido?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928" y="2036775"/>
            <a:ext cx="2312650" cy="279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7251" y="1846600"/>
            <a:ext cx="2229676" cy="22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1325" y="2108412"/>
            <a:ext cx="2175525" cy="272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45012" y="2381550"/>
            <a:ext cx="2229676" cy="2538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28478" y="3068661"/>
            <a:ext cx="2312650" cy="2383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67225" y="1152463"/>
            <a:ext cx="2114550" cy="5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EdgeQuake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6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PT"/>
              <a:t>Configurações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PT"/>
              <a:t>gpt-5-mini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PT"/>
              <a:t>text-embedding-3-small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PT"/>
              <a:t>Processados 12 documentos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PT"/>
              <a:t>Artigos, documentação técnica, posts de blogs especializados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PT"/>
              <a:t>10718 entidades; 11602 relacionamentos; 13 categorias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PT"/>
              <a:t>477 requisições e ~1.9M tokens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PT"/>
              <a:t>Custo total (real): $2.04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PT"/>
              <a:t>Tempo total de processamento: ~12min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Evidências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PT"/>
              <a:t>Resultados obtidos (</a:t>
            </a:r>
            <a:r>
              <a:rPr b="1" i="1" lang="pt-PT"/>
              <a:t>outputs</a:t>
            </a:r>
            <a:r>
              <a:rPr b="1" lang="pt-PT"/>
              <a:t>, exemplos, demonstrações)</a:t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025" y="1629925"/>
            <a:ext cx="4309875" cy="275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4700" y="2285550"/>
            <a:ext cx="4219676" cy="269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/>
        </p:nvSpPr>
        <p:spPr>
          <a:xfrm>
            <a:off x="857425" y="4434125"/>
            <a:ext cx="3971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PT" sz="1200">
                <a:solidFill>
                  <a:schemeClr val="dk2"/>
                </a:solidFill>
              </a:rPr>
              <a:t>Observa-se conexão entre os tópicos 5G e novos serviços de análise de dados, além do NWDAF</a:t>
            </a:r>
            <a:endParaRPr b="1" sz="1200">
              <a:solidFill>
                <a:schemeClr val="dk2"/>
              </a:solidFill>
            </a:endParaRPr>
          </a:p>
        </p:txBody>
      </p:sp>
      <p:cxnSp>
        <p:nvCxnSpPr>
          <p:cNvPr id="107" name="Google Shape;107;p20"/>
          <p:cNvCxnSpPr>
            <a:endCxn id="106" idx="1"/>
          </p:cNvCxnSpPr>
          <p:nvPr/>
        </p:nvCxnSpPr>
        <p:spPr>
          <a:xfrm flipH="1" rot="-5400000">
            <a:off x="511975" y="4379525"/>
            <a:ext cx="401400" cy="289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" name="Google Shape;108;p20"/>
          <p:cNvSpPr txBox="1"/>
          <p:nvPr/>
        </p:nvSpPr>
        <p:spPr>
          <a:xfrm>
            <a:off x="4784700" y="1587050"/>
            <a:ext cx="37761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PT" sz="1200">
                <a:solidFill>
                  <a:schemeClr val="dk2"/>
                </a:solidFill>
              </a:rPr>
              <a:t>Observa-se sobreposição entre os tópicos </a:t>
            </a:r>
            <a:r>
              <a:rPr lang="pt-PT" sz="1200">
                <a:solidFill>
                  <a:schemeClr val="dk2"/>
                </a:solidFill>
              </a:rPr>
              <a:t>6</a:t>
            </a:r>
            <a:r>
              <a:rPr lang="pt-PT" sz="1200">
                <a:solidFill>
                  <a:schemeClr val="dk2"/>
                </a:solidFill>
              </a:rPr>
              <a:t>G</a:t>
            </a:r>
            <a:r>
              <a:rPr lang="pt-PT" sz="1200">
                <a:solidFill>
                  <a:schemeClr val="dk2"/>
                </a:solidFill>
              </a:rPr>
              <a:t> e integração de IA preditiva em redes (AI4NET) </a:t>
            </a:r>
            <a:endParaRPr b="1" sz="1200">
              <a:solidFill>
                <a:schemeClr val="dk2"/>
              </a:solidFill>
            </a:endParaRPr>
          </a:p>
        </p:txBody>
      </p:sp>
      <p:cxnSp>
        <p:nvCxnSpPr>
          <p:cNvPr id="109" name="Google Shape;109;p20"/>
          <p:cNvCxnSpPr>
            <a:endCxn id="108" idx="3"/>
          </p:cNvCxnSpPr>
          <p:nvPr/>
        </p:nvCxnSpPr>
        <p:spPr>
          <a:xfrm flipH="1" rot="5400000">
            <a:off x="8464350" y="1974350"/>
            <a:ext cx="516900" cy="324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pt-PT"/>
              <a:t>Evidências</a:t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0875" y="1116525"/>
            <a:ext cx="5281426" cy="369987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/>
        </p:nvSpPr>
        <p:spPr>
          <a:xfrm>
            <a:off x="311700" y="1116525"/>
            <a:ext cx="2520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PT">
                <a:solidFill>
                  <a:schemeClr val="dk2"/>
                </a:solidFill>
              </a:rPr>
              <a:t>O modelo evidencia novas conexões com IBN, agentes e raciocinio em tempo real, usando ferramental NWDAF.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3189975" y="579825"/>
            <a:ext cx="583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PT"/>
              <a:t>“</a:t>
            </a:r>
            <a:r>
              <a:rPr i="1" lang="pt-PT"/>
              <a:t>What's the importance of using agents/LLM for network management?”</a:t>
            </a:r>
            <a:endParaRPr i="1"/>
          </a:p>
        </p:txBody>
      </p:sp>
      <p:cxnSp>
        <p:nvCxnSpPr>
          <p:cNvPr id="118" name="Google Shape;118;p21"/>
          <p:cNvCxnSpPr>
            <a:endCxn id="116" idx="3"/>
          </p:cNvCxnSpPr>
          <p:nvPr/>
        </p:nvCxnSpPr>
        <p:spPr>
          <a:xfrm rot="10800000">
            <a:off x="2832000" y="1688325"/>
            <a:ext cx="825300" cy="44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21"/>
          <p:cNvSpPr txBox="1"/>
          <p:nvPr/>
        </p:nvSpPr>
        <p:spPr>
          <a:xfrm>
            <a:off x="419175" y="3191900"/>
            <a:ext cx="25203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PT">
                <a:solidFill>
                  <a:schemeClr val="dk2"/>
                </a:solidFill>
              </a:rPr>
              <a:t>Destaca </a:t>
            </a:r>
            <a:r>
              <a:rPr lang="pt-PT">
                <a:solidFill>
                  <a:schemeClr val="dk2"/>
                </a:solidFill>
              </a:rPr>
              <a:t>relevância</a:t>
            </a:r>
            <a:r>
              <a:rPr lang="pt-PT">
                <a:solidFill>
                  <a:schemeClr val="dk2"/>
                </a:solidFill>
              </a:rPr>
              <a:t> de </a:t>
            </a:r>
            <a:r>
              <a:rPr i="1" lang="pt-PT">
                <a:solidFill>
                  <a:schemeClr val="dk2"/>
                </a:solidFill>
              </a:rPr>
              <a:t>frameworks</a:t>
            </a:r>
            <a:r>
              <a:rPr lang="pt-PT">
                <a:solidFill>
                  <a:schemeClr val="dk2"/>
                </a:solidFill>
              </a:rPr>
              <a:t> agente  multi-agente existentes, como o IntAgent e o MAESTRO. </a:t>
            </a:r>
            <a:endParaRPr b="1">
              <a:solidFill>
                <a:schemeClr val="dk2"/>
              </a:solidFill>
            </a:endParaRPr>
          </a:p>
        </p:txBody>
      </p:sp>
      <p:cxnSp>
        <p:nvCxnSpPr>
          <p:cNvPr id="120" name="Google Shape;120;p21"/>
          <p:cNvCxnSpPr/>
          <p:nvPr/>
        </p:nvCxnSpPr>
        <p:spPr>
          <a:xfrm flipH="1">
            <a:off x="2462100" y="3279225"/>
            <a:ext cx="1195200" cy="27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21"/>
          <p:cNvCxnSpPr/>
          <p:nvPr/>
        </p:nvCxnSpPr>
        <p:spPr>
          <a:xfrm rot="10800000">
            <a:off x="2516100" y="4070650"/>
            <a:ext cx="1141200" cy="11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Evidências</a:t>
            </a:r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41200"/>
            <a:ext cx="5907549" cy="370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/>
          <p:nvPr/>
        </p:nvSpPr>
        <p:spPr>
          <a:xfrm>
            <a:off x="6372025" y="646775"/>
            <a:ext cx="2667900" cy="4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dk2"/>
                </a:solidFill>
              </a:rPr>
              <a:t>Questinando sobre “</a:t>
            </a:r>
            <a:r>
              <a:rPr i="1" lang="pt-PT">
                <a:solidFill>
                  <a:schemeClr val="dk2"/>
                </a:solidFill>
              </a:rPr>
              <a:t>gaps</a:t>
            </a:r>
            <a:r>
              <a:rPr lang="pt-PT">
                <a:solidFill>
                  <a:schemeClr val="dk2"/>
                </a:solidFill>
              </a:rPr>
              <a:t>” na própria base de conhecimentos assimilada: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pt-PT">
                <a:solidFill>
                  <a:schemeClr val="dk2"/>
                </a:solidFill>
              </a:rPr>
              <a:t>Doc de padronização da </a:t>
            </a:r>
            <a:r>
              <a:rPr i="1" lang="pt-PT">
                <a:solidFill>
                  <a:schemeClr val="dk2"/>
                </a:solidFill>
              </a:rPr>
              <a:t>pipeline</a:t>
            </a:r>
            <a:r>
              <a:rPr lang="pt-PT">
                <a:solidFill>
                  <a:schemeClr val="dk2"/>
                </a:solidFill>
              </a:rPr>
              <a:t> NWDAF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pt-PT">
                <a:solidFill>
                  <a:schemeClr val="dk2"/>
                </a:solidFill>
              </a:rPr>
              <a:t>Metodologias de avaliação de segurança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pt-PT">
                <a:solidFill>
                  <a:schemeClr val="dk2"/>
                </a:solidFill>
              </a:rPr>
              <a:t>Detalhamento sobre colaboração multi-agente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pt-PT">
                <a:solidFill>
                  <a:schemeClr val="dk2"/>
                </a:solidFill>
              </a:rPr>
              <a:t>… etc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>
                <a:solidFill>
                  <a:schemeClr val="dk2"/>
                </a:solidFill>
              </a:rPr>
              <a:t>Isso pode ser feito iterativamente para encontrar </a:t>
            </a:r>
            <a:r>
              <a:rPr b="1" i="1" lang="pt-PT">
                <a:solidFill>
                  <a:schemeClr val="dk2"/>
                </a:solidFill>
              </a:rPr>
              <a:t>gaps</a:t>
            </a:r>
            <a:r>
              <a:rPr b="1" lang="pt-PT">
                <a:solidFill>
                  <a:schemeClr val="dk2"/>
                </a:solidFill>
              </a:rPr>
              <a:t> </a:t>
            </a:r>
            <a:r>
              <a:rPr b="1" lang="pt-PT">
                <a:solidFill>
                  <a:schemeClr val="dk2"/>
                </a:solidFill>
              </a:rPr>
              <a:t>literários</a:t>
            </a:r>
            <a:r>
              <a:rPr b="1" lang="pt-PT">
                <a:solidFill>
                  <a:schemeClr val="dk2"/>
                </a:solidFill>
              </a:rPr>
              <a:t>.</a:t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Evidências</a:t>
            </a:r>
            <a:endParaRPr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Aqui, o modelo sugere como complementar a própria base de conhecimento: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050" y="1551800"/>
            <a:ext cx="5204301" cy="334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3"/>
          <p:cNvSpPr txBox="1"/>
          <p:nvPr/>
        </p:nvSpPr>
        <p:spPr>
          <a:xfrm>
            <a:off x="5970151" y="1551825"/>
            <a:ext cx="252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pt-PT">
                <a:solidFill>
                  <a:schemeClr val="dk2"/>
                </a:solidFill>
              </a:rPr>
              <a:t>“Documentação de capacidades IBN (input/outputs)”</a:t>
            </a:r>
            <a:endParaRPr b="1" i="1">
              <a:solidFill>
                <a:schemeClr val="dk2"/>
              </a:solidFill>
            </a:endParaRPr>
          </a:p>
        </p:txBody>
      </p:sp>
      <p:sp>
        <p:nvSpPr>
          <p:cNvPr id="137" name="Google Shape;137;p23"/>
          <p:cNvSpPr txBox="1"/>
          <p:nvPr/>
        </p:nvSpPr>
        <p:spPr>
          <a:xfrm>
            <a:off x="6805850" y="2568913"/>
            <a:ext cx="22428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pt-PT">
                <a:solidFill>
                  <a:schemeClr val="dk2"/>
                </a:solidFill>
              </a:rPr>
              <a:t>“Delimitação de artefatos de avaliação: testes, métricas, formatação para logs, etc”</a:t>
            </a:r>
            <a:endParaRPr b="1" i="1">
              <a:solidFill>
                <a:schemeClr val="dk2"/>
              </a:solidFill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5997108" y="3833825"/>
            <a:ext cx="2520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pt-PT">
                <a:solidFill>
                  <a:schemeClr val="dk2"/>
                </a:solidFill>
              </a:rPr>
              <a:t>“Formalização de regras para ações de agentes: planejamento, chamada de ferramente, observação, etc”</a:t>
            </a:r>
            <a:endParaRPr b="1" i="1">
              <a:solidFill>
                <a:schemeClr val="dk2"/>
              </a:solidFill>
            </a:endParaRPr>
          </a:p>
        </p:txBody>
      </p:sp>
      <p:cxnSp>
        <p:nvCxnSpPr>
          <p:cNvPr id="139" name="Google Shape;139;p23"/>
          <p:cNvCxnSpPr/>
          <p:nvPr/>
        </p:nvCxnSpPr>
        <p:spPr>
          <a:xfrm flipH="1" rot="10800000">
            <a:off x="5400500" y="1797150"/>
            <a:ext cx="530100" cy="20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p23"/>
          <p:cNvCxnSpPr>
            <a:endCxn id="137" idx="1"/>
          </p:cNvCxnSpPr>
          <p:nvPr/>
        </p:nvCxnSpPr>
        <p:spPr>
          <a:xfrm flipH="1" rot="10800000">
            <a:off x="5094950" y="3140713"/>
            <a:ext cx="1710900" cy="10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23"/>
          <p:cNvCxnSpPr>
            <a:endCxn id="138" idx="1"/>
          </p:cNvCxnSpPr>
          <p:nvPr/>
        </p:nvCxnSpPr>
        <p:spPr>
          <a:xfrm>
            <a:off x="5319709" y="4169525"/>
            <a:ext cx="677400" cy="23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Limitações (EdgeQuake)</a:t>
            </a:r>
            <a:endParaRPr/>
          </a:p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311700" y="1152475"/>
            <a:ext cx="8520600" cy="36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Vantagens: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Pode ser </a:t>
            </a:r>
            <a:r>
              <a:rPr i="1" lang="pt-PT"/>
              <a:t>self-hosted,</a:t>
            </a:r>
            <a:r>
              <a:rPr lang="pt-PT"/>
              <a:t> “possibilitando” uso de dados sensíveis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PT"/>
              <a:t>Dados processados pela OpenAI API não são (alegadamente) usados para treinamento de novos modelos*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Respostas são mais técnicas, referenciáveis e pouco verbosas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Desvantagens: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Abrir e fechar o programa excluia as configurações do modelo selecionado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Falta de mais formatos para exportação de grafos (.html)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Dificuldades: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Documentos grandes (+50 páginas) falharam e tiveram que ser reiniciados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Aba de “custos” não reflete o custo real da API ($0.742 vs $2.04), nem a de </a:t>
            </a:r>
            <a:r>
              <a:rPr lang="pt-PT"/>
              <a:t>“t</a:t>
            </a:r>
            <a:r>
              <a:rPr lang="pt-PT"/>
              <a:t>otal tokens” (1.4M vs 1.9M)</a:t>
            </a:r>
            <a:endParaRPr/>
          </a:p>
        </p:txBody>
      </p:sp>
      <p:sp>
        <p:nvSpPr>
          <p:cNvPr id="148" name="Google Shape;148;p24"/>
          <p:cNvSpPr txBox="1"/>
          <p:nvPr/>
        </p:nvSpPr>
        <p:spPr>
          <a:xfrm>
            <a:off x="311700" y="4717525"/>
            <a:ext cx="40575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00">
                <a:solidFill>
                  <a:schemeClr val="dk2"/>
                </a:solidFill>
              </a:rPr>
              <a:t>* </a:t>
            </a:r>
            <a:r>
              <a:rPr lang="pt-PT" sz="900">
                <a:solidFill>
                  <a:schemeClr val="dk2"/>
                </a:solidFill>
              </a:rPr>
              <a:t>https://developers.openai.com/api/docs/concepts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Graphify</a:t>
            </a:r>
            <a:endParaRPr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311700" y="1152475"/>
            <a:ext cx="8520600" cy="36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PT"/>
              <a:t>Configurações (Codex)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PT"/>
              <a:t>gpt-5.4-mini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PT"/>
              <a:t>Reasoning Level: Medium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PT"/>
              <a:t>Processados 12 documentos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PT"/>
              <a:t>Artigos, documentação técnica, posts de blogs especializados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PT"/>
              <a:t>10 entidades; 7 relacionamentos; 4 categorias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PT"/>
              <a:t>Extracted: 43%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PT"/>
              <a:t>Infered: 57% (confiança média de 0.86)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PT"/>
              <a:t>Ambiguous: 0%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PT"/>
              <a:t>22 requisições e ~1.3M tokens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PT"/>
              <a:t>Custo total (</a:t>
            </a:r>
            <a:r>
              <a:rPr lang="pt-PT"/>
              <a:t>geração</a:t>
            </a:r>
            <a:r>
              <a:rPr lang="pt-PT"/>
              <a:t>): $0.24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Knowledge graph - Graphify</a:t>
            </a:r>
            <a:endParaRPr/>
          </a:p>
        </p:txBody>
      </p:sp>
      <p:pic>
        <p:nvPicPr>
          <p:cNvPr id="160" name="Google Shape;1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725" y="1147675"/>
            <a:ext cx="783254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Evidências</a:t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PT"/>
              <a:t>Resultados obtidos (outputs, exemplos, demonstrações)</a:t>
            </a:r>
            <a:endParaRPr/>
          </a:p>
        </p:txBody>
      </p:sp>
      <p:pic>
        <p:nvPicPr>
          <p:cNvPr id="167" name="Google Shape;1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600" y="1610950"/>
            <a:ext cx="6161601" cy="313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 txBox="1"/>
          <p:nvPr/>
        </p:nvSpPr>
        <p:spPr>
          <a:xfrm>
            <a:off x="6821700" y="2427800"/>
            <a:ext cx="21762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pt-PT">
                <a:solidFill>
                  <a:schemeClr val="dk2"/>
                </a:solidFill>
              </a:rPr>
              <a:t>O modelo vai mostrando o caminho de </a:t>
            </a:r>
            <a:r>
              <a:rPr i="1" lang="pt-PT">
                <a:solidFill>
                  <a:schemeClr val="dk2"/>
                </a:solidFill>
              </a:rPr>
              <a:t>raciocínio</a:t>
            </a:r>
            <a:r>
              <a:rPr i="1" lang="pt-PT">
                <a:solidFill>
                  <a:schemeClr val="dk2"/>
                </a:solidFill>
              </a:rPr>
              <a:t> e busca no grafo.</a:t>
            </a:r>
            <a:endParaRPr b="1" i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Evidências</a:t>
            </a:r>
            <a:endParaRPr/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PT"/>
              <a:t>Resultados obtidos (outputs, exemplos, demonstrações)</a:t>
            </a:r>
            <a:endParaRPr/>
          </a:p>
        </p:txBody>
      </p:sp>
      <p:pic>
        <p:nvPicPr>
          <p:cNvPr id="175" name="Google Shape;17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707" y="1636400"/>
            <a:ext cx="6592475" cy="308842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8"/>
          <p:cNvSpPr txBox="1"/>
          <p:nvPr/>
        </p:nvSpPr>
        <p:spPr>
          <a:xfrm>
            <a:off x="6877850" y="1893463"/>
            <a:ext cx="21762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pt-PT">
                <a:solidFill>
                  <a:schemeClr val="dk2"/>
                </a:solidFill>
              </a:rPr>
              <a:t>Apresenta a resposta da requisição</a:t>
            </a:r>
            <a:endParaRPr b="1" i="1">
              <a:solidFill>
                <a:schemeClr val="dk2"/>
              </a:solidFill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6877850" y="3417200"/>
            <a:ext cx="21762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pt-PT">
                <a:solidFill>
                  <a:schemeClr val="dk2"/>
                </a:solidFill>
              </a:rPr>
              <a:t>Posiciona a resposta no grafo e no relatório</a:t>
            </a:r>
            <a:endParaRPr b="1" i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Evidências</a:t>
            </a:r>
            <a:endParaRPr/>
          </a:p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PT"/>
              <a:t>Resultados obtidos (GRAPTH_REPORT.md)</a:t>
            </a:r>
            <a:endParaRPr/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8563" y="1609700"/>
            <a:ext cx="6326875" cy="333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Limitações (Graphify)</a:t>
            </a:r>
            <a:endParaRPr/>
          </a:p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311700" y="1152475"/>
            <a:ext cx="8520600" cy="36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Vantagens: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Transparência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GRAPH_REPORT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Os dados gerados são multiplataforma (codex, gemini, cloud code…)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Se atém ao grafo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Desvantagens: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Esse não é o objetivo principal da ferramenta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Baixa extração de Conhecimento para o Grafo (para essa base)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Não é muito boa como ferramenta de aprendizado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Dificuldades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Sem muitas dificuldades (para essa base)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Limitações do grafo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As não consegue interpretar o documento totalmente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NotebookLM</a:t>
            </a:r>
            <a:endParaRPr/>
          </a:p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Vantagens: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PT"/>
              <a:t>Grátis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PT"/>
              <a:t>Carregamento mais rápido (&lt; 1min)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PT"/>
              <a:t>Criação de mapa mental, slide, resumo em podcast, vídeo,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PT"/>
              <a:t>Opinião: </a:t>
            </a:r>
            <a:r>
              <a:rPr i="1" lang="pt-PT"/>
              <a:t>output</a:t>
            </a:r>
            <a:r>
              <a:rPr lang="pt-PT"/>
              <a:t> mais organizado, mas mais verboso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Desvantagens: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PT"/>
              <a:t>Não permite </a:t>
            </a:r>
            <a:r>
              <a:rPr i="1" lang="pt-PT"/>
              <a:t>self-hosting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PT"/>
              <a:t>Documentos ficam carregados</a:t>
            </a:r>
            <a:r>
              <a:rPr lang="pt-PT"/>
              <a:t> nos servidores do Google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PT"/>
              <a:t>Apenas o uso de modelos Gemini (Gemini 3 Flash/Pro)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Obrigado!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Dúvidas?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